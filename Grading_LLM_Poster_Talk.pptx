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19695" y="-2286000"/>
            <a:ext cx="6400800" cy="6400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615" y="4206240"/>
            <a:ext cx="4114800" cy="4114800"/>
          </a:xfrm>
          <a:prstGeom prst="ellipse">
            <a:avLst/>
          </a:prstGeom>
          <a:solidFill>
            <a:srgbClr val="29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F6C85F"/>
                </a:solidFill>
                <a:latin typeface="Calibri"/>
              </a:rPr>
              <a:t>STAT 298  ·  INTERPRETABILITY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8686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Grading-LLM</a:t>
            </a:r>
          </a:p>
          <a:p>
            <a:pPr algn="l"/>
            <a:r>
              <a:rPr sz="3200" b="0" i="1">
                <a:solidFill>
                  <a:srgbClr val="CADCFC"/>
                </a:solidFill>
                <a:latin typeface="Calibri"/>
              </a:rPr>
              <a:t>Measuring an LLM's consistency</a:t>
            </a:r>
          </a:p>
          <a:p>
            <a:pPr algn="l"/>
            <a:r>
              <a:rPr sz="3200" b="0" i="1">
                <a:solidFill>
                  <a:srgbClr val="CADCFC"/>
                </a:solidFill>
                <a:latin typeface="Calibri"/>
              </a:rPr>
              <a:t>across answer granularities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77639"/>
            <a:ext cx="640080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If an LLM grades the same statement twice, does it agree with itself?</a:t>
            </a:r>
          </a:p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We probe 1,600 evaluations per statement to find out where, and why, it changes its mind.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715000"/>
            <a:ext cx="5029200" cy="36576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Atharva Patel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Stat 298 Poster Session  ·  Evans 1011  ·  Friday May 15, 1:00–2:30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1">
                <a:solidFill>
                  <a:srgbClr val="F6C85F"/>
                </a:solidFill>
                <a:latin typeface="Calibri"/>
              </a:rPr>
              <a:t>grading-llm.vercel.app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96167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LLMs are unreliable judges — even at temperature 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55648"/>
            <a:ext cx="1097280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B7A8C"/>
                </a:solidFill>
                <a:latin typeface="Calibri"/>
              </a:rPr>
              <a:t>GRADING-LLM   ·   STAT 298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2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943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1A2E"/>
                </a:solidFill>
                <a:latin typeface="Calibri"/>
              </a:rPr>
              <a:t>Researchers increasingly use LLMs to grade other models, </a:t>
            </a:r>
            <a:r>
              <a:rPr sz="1700" b="0" i="0">
                <a:solidFill>
                  <a:srgbClr val="141A2E"/>
                </a:solidFill>
                <a:latin typeface="Calibri"/>
              </a:rPr>
              <a:t>rate alignment, score rubrics, and interpret behavior.</a:t>
            </a:r>
          </a:p>
          <a:p>
            <a:pPr algn="l">
              <a:lnSpc>
                <a:spcPct val="115000"/>
              </a:lnSpc>
            </a:pPr>
            <a:r>
              <a:rPr sz="600" b="0" i="0">
                <a:solidFill>
                  <a:srgbClr val="141A2E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1A2E"/>
                </a:solidFill>
                <a:latin typeface="Calibri"/>
              </a:rPr>
              <a:t>But if the same prompt produces a different score on a re-run,</a:t>
            </a:r>
          </a:p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41A2E"/>
                </a:solidFill>
                <a:latin typeface="Calibri"/>
              </a:rPr>
              <a:t>every downstream metric inherits that noise.</a:t>
            </a:r>
          </a:p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41A2E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E2761"/>
                </a:solidFill>
                <a:latin typeface="Calibri"/>
              </a:rPr>
              <a:t>We ask three questions: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526280"/>
            <a:ext cx="365760" cy="36576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55371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562856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1A2E"/>
                </a:solidFill>
                <a:latin typeface="Calibri"/>
              </a:rPr>
              <a:t>Where does the model change its mind?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029200"/>
            <a:ext cx="365760" cy="36576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5663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065776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1A2E"/>
                </a:solidFill>
                <a:latin typeface="Calibri"/>
              </a:rPr>
              <a:t>Does finer granularity make it worse?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5955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568696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1A2E"/>
                </a:solidFill>
                <a:latin typeface="Calibri"/>
              </a:rPr>
              <a:t>Can token-level confidence catch it?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2103120"/>
            <a:ext cx="4297680" cy="4206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2103120"/>
            <a:ext cx="91440" cy="42062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233172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F6C85F"/>
                </a:solidFill>
                <a:latin typeface="Calibri"/>
              </a:rPr>
              <a:t>EVEN A SIMPLE PROBE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834640"/>
            <a:ext cx="3931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2062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of binary-scale runs reproduce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48056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the same JSON byte-for-byte.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5074920"/>
            <a:ext cx="3840480" cy="2743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52578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96167"/>
                </a:solidFill>
                <a:latin typeface="Calibri"/>
              </a:rPr>
              <a:t>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585216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for the continuous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6C85F"/>
                </a:solidFill>
                <a:latin typeface="Calibri"/>
              </a:rP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 i="0">
                <a:solidFill>
                  <a:srgbClr val="FFFFFF"/>
                </a:solidFill>
                <a:latin typeface="Calibri"/>
              </a:rPr>
              <a:t>Does the </a:t>
            </a:r>
            <a:r>
              <a:rPr sz="3200" b="1" i="0">
                <a:solidFill>
                  <a:srgbClr val="F96167"/>
                </a:solidFill>
                <a:latin typeface="Calibri"/>
              </a:rPr>
              <a:t>granularity</a:t>
            </a:r>
            <a:r>
              <a:rPr sz="3200" b="0" i="0">
                <a:solidFill>
                  <a:srgbClr val="FFFFFF"/>
                </a:solidFill>
                <a:latin typeface="Calibri"/>
              </a:rPr>
              <a:t> of an LLM's answer scale</a:t>
            </a:r>
          </a:p>
          <a:p>
            <a:pPr algn="l">
              <a:lnSpc>
                <a:spcPct val="125000"/>
              </a:lnSpc>
            </a:pPr>
            <a:r>
              <a:rPr sz="3200" b="0" i="0">
                <a:solidFill>
                  <a:srgbClr val="FFFFFF"/>
                </a:solidFill>
                <a:latin typeface="Calibri"/>
              </a:rPr>
              <a:t>predict </a:t>
            </a:r>
            <a:r>
              <a:rPr sz="3200" b="0" i="1">
                <a:solidFill>
                  <a:srgbClr val="CADCFC"/>
                </a:solidFill>
                <a:latin typeface="Calibri"/>
              </a:rPr>
              <a:t>where</a:t>
            </a:r>
            <a:r>
              <a:rPr sz="3200" b="0" i="0">
                <a:solidFill>
                  <a:srgbClr val="FFFFFF"/>
                </a:solidFill>
                <a:latin typeface="Calibri"/>
              </a:rPr>
              <a:t> the judge becomes unstable —</a:t>
            </a:r>
          </a:p>
          <a:p>
            <a:pPr algn="l">
              <a:lnSpc>
                <a:spcPct val="125000"/>
              </a:lnSpc>
            </a:pPr>
            <a:r>
              <a:rPr sz="3200" b="0" i="0">
                <a:solidFill>
                  <a:srgbClr val="FFFFFF"/>
                </a:solidFill>
                <a:latin typeface="Calibri"/>
              </a:rPr>
              <a:t>and can PCA recover those unstable directions</a:t>
            </a:r>
          </a:p>
          <a:p>
            <a:pPr algn="l">
              <a:lnSpc>
                <a:spcPct val="125000"/>
              </a:lnSpc>
            </a:pPr>
            <a:r>
              <a:rPr sz="3200" b="0" i="0">
                <a:solidFill>
                  <a:srgbClr val="FFFFFF"/>
                </a:solidFill>
                <a:latin typeface="Calibri"/>
              </a:rPr>
              <a:t>as </a:t>
            </a:r>
            <a:r>
              <a:rPr sz="3200" b="0" i="1">
                <a:solidFill>
                  <a:srgbClr val="CADCFC"/>
                </a:solidFill>
                <a:latin typeface="Calibri"/>
              </a:rPr>
              <a:t>interpretable</a:t>
            </a:r>
            <a:r>
              <a:rPr sz="3200" b="0" i="0">
                <a:solidFill>
                  <a:srgbClr val="FFFFFF"/>
                </a:solidFill>
                <a:latin typeface="Calibri"/>
              </a:rPr>
              <a:t> semantic axes?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5120640"/>
            <a:ext cx="9418320" cy="1005840"/>
          </a:xfrm>
          <a:prstGeom prst="rect">
            <a:avLst/>
          </a:prstGeom>
          <a:solidFill>
            <a:srgbClr val="121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5120640"/>
            <a:ext cx="109728" cy="1005840"/>
          </a:xfrm>
          <a:prstGeom prst="rect">
            <a:avLst/>
          </a:prstGeom>
          <a:solidFill>
            <a:srgbClr val="F6C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257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F6C85F"/>
                </a:solidFill>
                <a:latin typeface="Calibri"/>
              </a:rPr>
              <a:t>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32120"/>
            <a:ext cx="8961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CADCFC"/>
                </a:solidFill>
                <a:latin typeface="Calibri"/>
              </a:rPr>
              <a:t>Finer scales offer more numerical degrees of freedom, so the model spends those degrees on noise, not signal — and PCA on grading vectors reveals which factor families absorb the wobble.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CADCFC"/>
                </a:solidFill>
                <a:latin typeface="Calibri"/>
              </a:rPr>
              <a:t>GRADING-LLM   ·   STAT 298  ·  Spring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96167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1,600 graded responses per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55648"/>
            <a:ext cx="1097280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B7A8C"/>
                </a:solidFill>
                <a:latin typeface="Calibri"/>
              </a:rPr>
              <a:t>GRADING-LLM   ·   STAT 298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4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2468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246888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4688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05456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63239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747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One text input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(e.g., a claim or excerpt)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194560"/>
            <a:ext cx="2468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2194560"/>
            <a:ext cx="246888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57600" y="24688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505456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063239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20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4747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Probe orthogonal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semantic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194560"/>
            <a:ext cx="2468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194560"/>
            <a:ext cx="246888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55080" y="24688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505456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063239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4 Scales × 20 reps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4747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Binary / Ternary /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Quat. / Continuous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60" y="2194560"/>
            <a:ext cx="2468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23960" y="2194560"/>
            <a:ext cx="246888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52560" y="24688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2505456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063239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Analyze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4747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Variance, entropy,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mode, 3-D PCA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8688" y="310896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96167"/>
                </a:solidFill>
                <a:latin typeface="Calibri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16168" y="310896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96167"/>
                </a:solidFill>
                <a:latin typeface="Calibri"/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310896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96167"/>
                </a:solidFill>
                <a:latin typeface="Calibri"/>
              </a:rPr>
              <a:t>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572000"/>
            <a:ext cx="10835640" cy="1554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4572000"/>
            <a:ext cx="109728" cy="1554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754880"/>
            <a:ext cx="1188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53212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200">
                <a:solidFill>
                  <a:srgbClr val="CADCFC"/>
                </a:solidFill>
                <a:latin typeface="Calibri"/>
              </a:rPr>
              <a:t>questions 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4754880"/>
            <a:ext cx="1188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39" y="553212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200">
                <a:solidFill>
                  <a:srgbClr val="CADCFC"/>
                </a:solidFill>
                <a:latin typeface="Calibri"/>
              </a:rPr>
              <a:t>scales 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754880"/>
            <a:ext cx="1188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53212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200">
                <a:solidFill>
                  <a:srgbClr val="CADCFC"/>
                </a:solidFill>
                <a:latin typeface="Calibri"/>
              </a:rPr>
              <a:t>repeats =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7548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96167"/>
                </a:solidFill>
                <a:latin typeface="Calibri"/>
              </a:rPr>
              <a:t>1,600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5321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6C85F"/>
                </a:solidFill>
                <a:latin typeface="Calibri"/>
              </a:rPr>
              <a:t>API calls / statement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96167"/>
                </a:solidFill>
                <a:latin typeface="Calibri"/>
              </a:rPr>
              <a:t>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Two question modes — surface form vs. inferred meaning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55648"/>
            <a:ext cx="1097280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B7A8C"/>
                </a:solidFill>
                <a:latin typeface="Calibri"/>
              </a:rPr>
              <a:t>GRADING-LLM   ·   STAT 298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5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5349240" cy="4206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91440" cy="42062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6C85F"/>
                </a:solidFill>
                <a:latin typeface="Calibri"/>
              </a:rPr>
              <a:t>MECHANISTIC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432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Explicit linguistic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8327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ADCFC"/>
                </a:solidFill>
                <a:latin typeface="Calibri"/>
              </a:rPr>
              <a:t>Surface, lexical, syntactic.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96167"/>
                </a:solidFill>
                <a:latin typeface="Calibr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31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Does it mention a specific person by name?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96167"/>
                </a:solidFill>
                <a:latin typeface="Calibr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43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Does it contain explicit negation?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96167"/>
                </a:solidFill>
                <a:latin typeface="Calibr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54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Does it use first-person pronouns?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1663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96167"/>
                </a:solidFill>
                <a:latin typeface="Calibr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166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Does it describe an action being performed?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778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96167"/>
                </a:solidFill>
                <a:latin typeface="Calibri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577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Does it contain explicit numbers?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103120"/>
            <a:ext cx="5349240" cy="420624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103120"/>
            <a:ext cx="91440" cy="4206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3774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E2761"/>
                </a:solidFill>
                <a:latin typeface="Calibri"/>
              </a:rPr>
              <a:t>INTERPRETABILITY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7432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libri"/>
              </a:rPr>
              <a:t>Implicit meaning &amp; inference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38327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6454F"/>
                </a:solidFill>
                <a:latin typeface="Calibri"/>
              </a:rPr>
              <a:t>Pragmatic, social, contextual.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93192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96167"/>
                </a:solidFill>
                <a:latin typeface="Calibri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931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A2E"/>
                </a:solidFill>
                <a:latin typeface="Calibri"/>
              </a:rPr>
              <a:t>Is the speaker's tone ambiguous?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3434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96167"/>
                </a:solidFill>
                <a:latin typeface="Calibri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343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A2E"/>
                </a:solidFill>
                <a:latin typeface="Calibri"/>
              </a:rPr>
              <a:t>What unstated reasons are implied?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7548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96167"/>
                </a:solidFill>
                <a:latin typeface="Calibri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754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A2E"/>
                </a:solidFill>
                <a:latin typeface="Calibri"/>
              </a:rPr>
              <a:t>Is there an implicit power dynamic?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1663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96167"/>
                </a:solidFill>
                <a:latin typeface="Calibri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166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A2E"/>
                </a:solidFill>
                <a:latin typeface="Calibri"/>
              </a:rPr>
              <a:t>What does the speaker leave out?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5778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96167"/>
                </a:solidFill>
                <a:latin typeface="Calibri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577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A2E"/>
                </a:solidFill>
                <a:latin typeface="Calibri"/>
              </a:rPr>
              <a:t>How does context change the meaning?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96167"/>
                </a:solidFill>
                <a:latin typeface="Calibri"/>
              </a:rPr>
              <a:t>ANSWER GRANULARITY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Four scales, one prompt, more numerical freedom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55648"/>
            <a:ext cx="1097280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B7A8C"/>
                </a:solidFill>
                <a:latin typeface="Calibri"/>
              </a:rPr>
              <a:t>GRADING-LLM   ·   STAT 298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6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260604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260604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59152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Binary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2 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461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B7A8C"/>
                </a:solidFill>
                <a:latin typeface="Calibri"/>
              </a:rPr>
              <a:t>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661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1A2E"/>
                </a:solidFill>
                <a:latin typeface="Calibri"/>
              </a:rPr>
              <a:t>{0, 1}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891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B7A8C"/>
                </a:solidFill>
                <a:latin typeface="Calibri"/>
              </a:rPr>
              <a:t>RANGE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4892040"/>
            <a:ext cx="2057400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2688" y="4818888"/>
            <a:ext cx="182880" cy="1828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90088" y="4818888"/>
            <a:ext cx="182880" cy="1828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2194560"/>
            <a:ext cx="260604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2194560"/>
            <a:ext cx="2606040" cy="822960"/>
          </a:xfrm>
          <a:prstGeom prst="rect">
            <a:avLst/>
          </a:prstGeom>
          <a:solidFill>
            <a:srgbClr val="2E6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2359152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Ternary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7432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3 options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2461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B7A8C"/>
                </a:solidFill>
                <a:latin typeface="Calibri"/>
              </a:rPr>
              <a:t>VALUES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5661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1A2E"/>
                </a:solidFill>
                <a:latin typeface="Calibri"/>
              </a:rPr>
              <a:t>{0, 0.5, 1}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3891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B7A8C"/>
                </a:solidFill>
                <a:latin typeface="Calibri"/>
              </a:rPr>
              <a:t>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4892040"/>
            <a:ext cx="2057400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767328" y="4818888"/>
            <a:ext cx="182880" cy="182880"/>
          </a:xfrm>
          <a:prstGeom prst="ellipse">
            <a:avLst/>
          </a:prstGeom>
          <a:solidFill>
            <a:srgbClr val="2E6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96028" y="4818888"/>
            <a:ext cx="182880" cy="182880"/>
          </a:xfrm>
          <a:prstGeom prst="ellipse">
            <a:avLst/>
          </a:prstGeom>
          <a:solidFill>
            <a:srgbClr val="2E6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24728" y="4818888"/>
            <a:ext cx="182880" cy="182880"/>
          </a:xfrm>
          <a:prstGeom prst="ellipse">
            <a:avLst/>
          </a:prstGeom>
          <a:solidFill>
            <a:srgbClr val="2E6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2194560"/>
            <a:ext cx="260604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2194560"/>
            <a:ext cx="2606040" cy="8229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2359152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Quaternary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27432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4 options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2461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B7A8C"/>
                </a:solidFill>
                <a:latin typeface="Calibri"/>
              </a:rPr>
              <a:t>VALUES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5661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1A2E"/>
                </a:solidFill>
                <a:latin typeface="Calibri"/>
              </a:rPr>
              <a:t>{0, 0.33, 0.66, 1}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3891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B7A8C"/>
                </a:solidFill>
                <a:latin typeface="Calibri"/>
              </a:rPr>
              <a:t>RANGE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4892040"/>
            <a:ext cx="2057400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01968" y="4818888"/>
            <a:ext cx="182880" cy="18288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280910" y="4818888"/>
            <a:ext cx="182880" cy="18288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59852" y="4818888"/>
            <a:ext cx="182880" cy="18288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659368" y="4818888"/>
            <a:ext cx="182880" cy="18288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35440" y="2194560"/>
            <a:ext cx="260604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35440" y="2194560"/>
            <a:ext cx="2606040" cy="822960"/>
          </a:xfrm>
          <a:prstGeom prst="rect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4040" y="2359152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Continuous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64040" y="27432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∞ options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040" y="32461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B7A8C"/>
                </a:solidFill>
                <a:latin typeface="Calibri"/>
              </a:rPr>
              <a:t>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35661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1A2E"/>
                </a:solidFill>
                <a:latin typeface="Calibri"/>
              </a:rPr>
              <a:t>[0, 1]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64040" y="43891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B7A8C"/>
                </a:solidFill>
                <a:latin typeface="Calibri"/>
              </a:rPr>
              <a:t>RANGE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760" y="4892040"/>
            <a:ext cx="2057400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468612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576896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685180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793464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901748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010033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118317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226601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334885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443169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51454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659738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68022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876306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984590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092875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201159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309443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417727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526012" y="4850892"/>
            <a:ext cx="100584" cy="10058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" y="5623560"/>
            <a:ext cx="10835640" cy="640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0120" y="573328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ADCFC"/>
                </a:solidFill>
                <a:latin typeface="Calibri"/>
              </a:rPr>
              <a:t>Same prompt, same temperature — only the allowed numeric vocabulary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96167"/>
                </a:solidFill>
                <a:latin typeface="Calibri"/>
              </a:rPr>
              <a:t>FINDING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More numerical choices → fewer identical re-runs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55648"/>
            <a:ext cx="1097280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B7A8C"/>
                </a:solidFill>
                <a:latin typeface="Calibri"/>
              </a:rPr>
              <a:t>GRADING-LLM   ·   STAT 298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7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6454F"/>
                </a:solidFill>
                <a:latin typeface="Calibri"/>
              </a:rPr>
              <a:t>% of (text × scale) pairs where 5 repeats produced byte-identical 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5989320"/>
            <a:ext cx="5852160" cy="36576"/>
          </a:xfrm>
          <a:prstGeom prst="rect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8795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5989320"/>
            <a:ext cx="585216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056631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25%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" y="5166359"/>
            <a:ext cx="585216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336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50%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" y="4343400"/>
            <a:ext cx="585216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10711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75%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3520439"/>
            <a:ext cx="585216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587751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4440" y="2697479"/>
            <a:ext cx="585216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87925" y="3995927"/>
            <a:ext cx="773239" cy="19751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87925" y="4133087"/>
            <a:ext cx="7732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0725" y="6108192"/>
            <a:ext cx="1687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41A2E"/>
                </a:solidFill>
                <a:latin typeface="Calibri"/>
              </a:rPr>
              <a:t>Binary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93815" y="4325112"/>
            <a:ext cx="773239" cy="1645920"/>
          </a:xfrm>
          <a:prstGeom prst="rect">
            <a:avLst/>
          </a:prstGeom>
          <a:solidFill>
            <a:srgbClr val="2E6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93815" y="4462272"/>
            <a:ext cx="7732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36615" y="6108192"/>
            <a:ext cx="1687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41A2E"/>
                </a:solidFill>
                <a:latin typeface="Calibri"/>
              </a:rPr>
              <a:t>Ternary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99705" y="4654295"/>
            <a:ext cx="773239" cy="1316736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9705" y="4791455"/>
            <a:ext cx="7732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42505" y="6108192"/>
            <a:ext cx="1687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41A2E"/>
                </a:solidFill>
                <a:latin typeface="Calibri"/>
              </a:rPr>
              <a:t>Quaternary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5595" y="5916168"/>
            <a:ext cx="773239" cy="54864"/>
          </a:xfrm>
          <a:prstGeom prst="rect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31275" y="5468112"/>
            <a:ext cx="1321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D94349"/>
                </a:solidFill>
                <a:latin typeface="Calibri"/>
              </a:rPr>
              <a:t>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8395" y="6108192"/>
            <a:ext cx="1687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41A2E"/>
                </a:solidFill>
                <a:latin typeface="Calibri"/>
              </a:rPr>
              <a:t>Continuous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2468880"/>
            <a:ext cx="3886200" cy="3657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80960" y="2468880"/>
            <a:ext cx="91440" cy="36576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2651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F6C85F"/>
                </a:solidFill>
                <a:latin typeface="Calibri"/>
              </a:rPr>
              <a:t>TAKEAWAY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3017520"/>
            <a:ext cx="35204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Reproducibility </a:t>
            </a:r>
            <a:r>
              <a:rPr sz="1800" b="1" i="0">
                <a:solidFill>
                  <a:srgbClr val="F96167"/>
                </a:solidFill>
                <a:latin typeface="Calibri"/>
              </a:rPr>
              <a:t>collapses</a:t>
            </a:r>
          </a:p>
          <a:p>
            <a:pPr algn="l">
              <a:lnSpc>
                <a:spcPct val="115000"/>
              </a:lnSpc>
            </a:pPr>
            <a:r>
              <a:rPr sz="600" b="0" i="0">
                <a:solidFill>
                  <a:srgbClr val="141A2E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Even with temperature = 0 and JSON-mode, the model fails </a:t>
            </a:r>
            <a:r>
              <a:rPr sz="1300" b="0" i="1">
                <a:solidFill>
                  <a:srgbClr val="F96167"/>
                </a:solidFill>
                <a:latin typeface="Calibri"/>
              </a:rPr>
              <a:t>every single time</a:t>
            </a:r>
            <a:r>
              <a:rPr sz="1300" b="0" i="0">
                <a:solidFill>
                  <a:srgbClr val="CADCFC"/>
                </a:solidFill>
                <a:latin typeface="Calibri"/>
              </a:rPr>
              <a:t> on the continuous scale (0/10).</a:t>
            </a:r>
          </a:p>
          <a:p>
            <a:pPr algn="l">
              <a:lnSpc>
                <a:spcPct val="115000"/>
              </a:lnSpc>
            </a:pPr>
            <a:r>
              <a:rPr sz="600" b="0" i="0">
                <a:solidFill>
                  <a:srgbClr val="141A2E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CADCFC"/>
                </a:solidFill>
                <a:latin typeface="Calibri"/>
              </a:rPr>
              <a:t>Granularity isn't ornamental — it leaks into the sampler.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A8C"/>
                </a:solidFill>
                <a:latin typeface="Calibri"/>
              </a:rPr>
              <a:t>Source: json_consistency_results.json   ·   10 statements × 4 scales × 5 repeats   ·   gpt-4o-mini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96167"/>
                </a:solidFill>
                <a:latin typeface="Calibri"/>
              </a:rPr>
              <a:t>FINDING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Token-level confidence tracks the same gradient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55648"/>
            <a:ext cx="1097280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B7A8C"/>
                </a:solidFill>
                <a:latin typeface="Calibri"/>
              </a:rPr>
              <a:t>GRADING-LLM   ·   STAT 298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8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6454F"/>
                </a:solidFill>
                <a:latin typeface="Calibri"/>
              </a:rPr>
              <a:t>Mean chosen-token probability and entropy over the score tokens in the JSON response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68580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685800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334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6334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FFFFFF"/>
                </a:solidFill>
                <a:latin typeface="Calibri"/>
              </a:rPr>
              <a:t>Mean prob 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334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FFFFFF"/>
                </a:solidFill>
                <a:latin typeface="Calibri"/>
              </a:rPr>
              <a:t>Mean entropy 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334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FFFFFF"/>
                </a:solidFill>
                <a:latin typeface="Calibri"/>
              </a:rPr>
              <a:t>Min prob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154680"/>
            <a:ext cx="6766560" cy="640080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3310128"/>
            <a:ext cx="201168" cy="20116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3192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A2E"/>
                </a:solidFill>
                <a:latin typeface="Calibri"/>
              </a:rPr>
              <a:t>Binary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3192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2E"/>
                </a:solidFill>
                <a:latin typeface="Consolas"/>
              </a:rPr>
              <a:t>0.9821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3192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2E"/>
                </a:solidFill>
                <a:latin typeface="Consolas"/>
              </a:rPr>
              <a:t>0.0615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1927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2E"/>
                </a:solidFill>
                <a:latin typeface="Consolas"/>
              </a:rPr>
              <a:t>0.500</a:t>
            </a:r>
          </a:p>
        </p:txBody>
      </p:sp>
      <p:sp>
        <p:nvSpPr>
          <p:cNvPr id="22" name="Oval 21"/>
          <p:cNvSpPr/>
          <p:nvPr/>
        </p:nvSpPr>
        <p:spPr>
          <a:xfrm>
            <a:off x="1005840" y="3950208"/>
            <a:ext cx="201168" cy="201168"/>
          </a:xfrm>
          <a:prstGeom prst="ellipse">
            <a:avLst/>
          </a:prstGeom>
          <a:solidFill>
            <a:srgbClr val="2E6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39593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A2E"/>
                </a:solidFill>
                <a:latin typeface="Calibri"/>
              </a:rPr>
              <a:t>Ternary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9593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2E"/>
                </a:solidFill>
                <a:latin typeface="Consolas"/>
              </a:rPr>
              <a:t>0.9809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9593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2E"/>
                </a:solidFill>
                <a:latin typeface="Consolas"/>
              </a:rPr>
              <a:t>0.0637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95935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2E"/>
                </a:solidFill>
                <a:latin typeface="Consolas"/>
              </a:rPr>
              <a:t>0.500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434840"/>
            <a:ext cx="6766560" cy="640080"/>
          </a:xfrm>
          <a:prstGeom prst="rect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5840" y="4590288"/>
            <a:ext cx="201168" cy="20116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45994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A2E"/>
                </a:solidFill>
                <a:latin typeface="Calibri"/>
              </a:rPr>
              <a:t>Quaternary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5994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2E"/>
                </a:solidFill>
                <a:latin typeface="Consolas"/>
              </a:rPr>
              <a:t>0.9718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5994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2E"/>
                </a:solidFill>
                <a:latin typeface="Consolas"/>
              </a:rPr>
              <a:t>0.0978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59943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2E"/>
                </a:solidFill>
                <a:latin typeface="Consolas"/>
              </a:rPr>
              <a:t>0.500</a:t>
            </a:r>
          </a:p>
        </p:txBody>
      </p:sp>
      <p:sp>
        <p:nvSpPr>
          <p:cNvPr id="33" name="Oval 32"/>
          <p:cNvSpPr/>
          <p:nvPr/>
        </p:nvSpPr>
        <p:spPr>
          <a:xfrm>
            <a:off x="1005840" y="5230368"/>
            <a:ext cx="201168" cy="201168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25880" y="52395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A2E"/>
                </a:solidFill>
                <a:latin typeface="Calibri"/>
              </a:rPr>
              <a:t>Continuous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52395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2E"/>
                </a:solidFill>
                <a:latin typeface="Consolas"/>
              </a:rPr>
              <a:t>0.9432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52395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2E"/>
                </a:solidFill>
                <a:latin typeface="Consolas"/>
              </a:rPr>
              <a:t>0.1964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23951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A2E"/>
                </a:solidFill>
                <a:latin typeface="Consolas"/>
              </a:rPr>
              <a:t>0.243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8120" y="2514600"/>
            <a:ext cx="3749039" cy="3657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18120" y="2514600"/>
            <a:ext cx="91440" cy="3657600"/>
          </a:xfrm>
          <a:prstGeom prst="rect">
            <a:avLst/>
          </a:prstGeom>
          <a:solidFill>
            <a:srgbClr val="F6C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2697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F6C85F"/>
                </a:solidFill>
                <a:latin typeface="Calibri"/>
              </a:rPr>
              <a:t>WHAT IT MEANS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3108960"/>
            <a:ext cx="33832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Mean token entropy </a:t>
            </a:r>
            <a:r>
              <a:rPr sz="1400" b="1" i="0">
                <a:solidFill>
                  <a:srgbClr val="F96167"/>
                </a:solidFill>
                <a:latin typeface="Calibri"/>
              </a:rPr>
              <a:t>triples</a:t>
            </a:r>
            <a:r>
              <a:rPr sz="1400" b="0" i="0">
                <a:solidFill>
                  <a:srgbClr val="CADCFC"/>
                </a:solidFill>
                <a:latin typeface="Calibri"/>
              </a:rPr>
              <a:t> from binary to continuous.</a:t>
            </a:r>
          </a:p>
          <a:p>
            <a:pPr algn="l">
              <a:lnSpc>
                <a:spcPct val="118000"/>
              </a:lnSpc>
            </a:pPr>
            <a:r>
              <a:rPr sz="600" b="0" i="0">
                <a:solidFill>
                  <a:srgbClr val="141A2E"/>
                </a:solidFill>
                <a:latin typeface="Calibri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Min chosen-token probability collapses from 0.50 → 0.24 — </a:t>
            </a:r>
            <a:r>
              <a:rPr sz="1300" b="1" i="1">
                <a:solidFill>
                  <a:srgbClr val="F96167"/>
                </a:solidFill>
                <a:latin typeface="Calibri"/>
              </a:rPr>
              <a:t>the model genuinely doesn't know </a:t>
            </a:r>
            <a:r>
              <a:rPr sz="1300" b="0" i="0">
                <a:solidFill>
                  <a:srgbClr val="CADCFC"/>
                </a:solidFill>
                <a:latin typeface="Calibri"/>
              </a:rPr>
              <a:t>which decimal to emit next.</a:t>
            </a:r>
          </a:p>
          <a:p>
            <a:pPr algn="l">
              <a:lnSpc>
                <a:spcPct val="118000"/>
              </a:lnSpc>
            </a:pPr>
            <a:r>
              <a:rPr sz="600" b="0" i="0">
                <a:solidFill>
                  <a:srgbClr val="141A2E"/>
                </a:solidFill>
                <a:latin typeface="Calibri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200" b="0" i="1">
                <a:solidFill>
                  <a:srgbClr val="F6C85F"/>
                </a:solidFill>
                <a:latin typeface="Calibri"/>
              </a:rPr>
              <a:t>Logprobs are early-warning signals, not safety guarantees.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96167"/>
                </a:solidFill>
                <a:latin typeface="Calibri"/>
              </a:rPr>
              <a:t>FINDING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Some semantic factors are systematically less stable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55648"/>
            <a:ext cx="1097280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B7A8C"/>
                </a:solidFill>
                <a:latin typeface="Calibri"/>
              </a:rPr>
              <a:t>GRADING-LLM   ·   STAT 298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9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6454F"/>
                </a:solidFill>
                <a:latin typeface="Calibri"/>
              </a:rPr>
              <a:t>% of (text × scale) cells where 5 repeats disagreed, per factor family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concreteness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532888"/>
            <a:ext cx="3291840" cy="1828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2532888"/>
            <a:ext cx="2633472" cy="182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4688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20.0%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1635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negation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880360"/>
            <a:ext cx="3291840" cy="1828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2880360"/>
            <a:ext cx="1975104" cy="182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281635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15.0%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6382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spatial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3227832"/>
            <a:ext cx="3291840" cy="1828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0" y="3227832"/>
            <a:ext cx="1645920" cy="182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3163824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12.5%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11296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intent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3575304"/>
            <a:ext cx="3291840" cy="1828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0" y="3575304"/>
            <a:ext cx="1645920" cy="182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35112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12.5%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8587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actions_events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3922776"/>
            <a:ext cx="3291840" cy="1828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0" y="3922776"/>
            <a:ext cx="1316736" cy="182880"/>
          </a:xfrm>
          <a:prstGeom prst="rect">
            <a:avLst/>
          </a:prstGeom>
          <a:solidFill>
            <a:srgbClr val="E08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60" y="385876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10.0%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2062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causality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4270248"/>
            <a:ext cx="3291840" cy="1828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0" y="4270248"/>
            <a:ext cx="1316736" cy="182880"/>
          </a:xfrm>
          <a:prstGeom prst="rect">
            <a:avLst/>
          </a:prstGeom>
          <a:solidFill>
            <a:srgbClr val="E08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23560" y="420624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10.0%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55371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numeric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4617720"/>
            <a:ext cx="3291840" cy="1828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0" y="4617720"/>
            <a:ext cx="658368" cy="182880"/>
          </a:xfrm>
          <a:prstGeom prst="rect">
            <a:avLst/>
          </a:prstGeom>
          <a:solidFill>
            <a:srgbClr val="4F9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23560" y="455371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5.0%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9011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emotion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4965192"/>
            <a:ext cx="3291840" cy="1828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86000" y="4965192"/>
            <a:ext cx="658368" cy="182880"/>
          </a:xfrm>
          <a:prstGeom prst="rect">
            <a:avLst/>
          </a:prstGeom>
          <a:solidFill>
            <a:srgbClr val="4F9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23560" y="4901184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5.0%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46888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social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79" y="2532888"/>
            <a:ext cx="3291840" cy="1828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55279" y="2532888"/>
            <a:ext cx="658368" cy="182880"/>
          </a:xfrm>
          <a:prstGeom prst="rect">
            <a:avLst/>
          </a:prstGeom>
          <a:solidFill>
            <a:srgbClr val="4F9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92840" y="24688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5.0%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281635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dialogue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79" y="2880360"/>
            <a:ext cx="3291840" cy="1828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55279" y="2880360"/>
            <a:ext cx="658368" cy="182880"/>
          </a:xfrm>
          <a:prstGeom prst="rect">
            <a:avLst/>
          </a:prstGeom>
          <a:solidFill>
            <a:srgbClr val="4F9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292840" y="281635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5.0%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316382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identity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79" y="3227832"/>
            <a:ext cx="3291840" cy="1828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55279" y="3227832"/>
            <a:ext cx="658368" cy="182880"/>
          </a:xfrm>
          <a:prstGeom prst="rect">
            <a:avLst/>
          </a:prstGeom>
          <a:solidFill>
            <a:srgbClr val="4F9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292840" y="3163824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5.0%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3511296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named_entities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55279" y="3575304"/>
            <a:ext cx="3291840" cy="1828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955279" y="3575304"/>
            <a:ext cx="36576" cy="182880"/>
          </a:xfrm>
          <a:prstGeom prst="rect">
            <a:avLst/>
          </a:prstGeom>
          <a:solidFill>
            <a:srgbClr val="2C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92840" y="35112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0.0%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38587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temporal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55279" y="3922776"/>
            <a:ext cx="3291840" cy="1828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955279" y="3922776"/>
            <a:ext cx="36576" cy="182880"/>
          </a:xfrm>
          <a:prstGeom prst="rect">
            <a:avLst/>
          </a:prstGeom>
          <a:solidFill>
            <a:srgbClr val="2C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292840" y="385876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0.0%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2062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modality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55279" y="4270248"/>
            <a:ext cx="3291840" cy="1828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955279" y="4270248"/>
            <a:ext cx="36576" cy="182880"/>
          </a:xfrm>
          <a:prstGeom prst="rect">
            <a:avLst/>
          </a:prstGeom>
          <a:solidFill>
            <a:srgbClr val="2C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292840" y="420624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0.0%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455371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imperative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55279" y="4617720"/>
            <a:ext cx="3291840" cy="1828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955279" y="4617720"/>
            <a:ext cx="36576" cy="182880"/>
          </a:xfrm>
          <a:prstGeom prst="rect">
            <a:avLst/>
          </a:prstGeom>
          <a:solidFill>
            <a:srgbClr val="2C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292840" y="455371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0.0%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49011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normative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55279" y="4965192"/>
            <a:ext cx="3291840" cy="1828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955279" y="4965192"/>
            <a:ext cx="36576" cy="182880"/>
          </a:xfrm>
          <a:prstGeom prst="rect">
            <a:avLst/>
          </a:prstGeom>
          <a:solidFill>
            <a:srgbClr val="2C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292840" y="4901184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2E"/>
                </a:solidFill>
                <a:latin typeface="Consolas"/>
              </a:rPr>
              <a:t>0.0%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" y="5623560"/>
            <a:ext cx="10835640" cy="640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5623560"/>
            <a:ext cx="109728" cy="6400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0120" y="57332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Concrete vs. abstract, polarity flips, spatial language, inferred intent — the same categories humans disagree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96167"/>
                </a:solidFill>
                <a:latin typeface="Calibri"/>
              </a:rPr>
              <a:t>FINDING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High confidence ≠ stable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55648"/>
            <a:ext cx="1097280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B7A8C"/>
                </a:solidFill>
                <a:latin typeface="Calibri"/>
              </a:rPr>
              <a:t>GRADING-LLM   ·   STAT 298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10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6454F"/>
                </a:solidFill>
                <a:latin typeface="Calibri"/>
              </a:rPr>
              <a:t>Cases where the model emitted near-certain logprobs yet still flipped its score: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685800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91440" cy="1691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6B7A8C"/>
                </a:solidFill>
                <a:latin typeface="Calibri"/>
              </a:rPr>
              <a:t>EXAMPLE — narrative_paragraph / quaternary / Q19 (identity)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63239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A2E"/>
                </a:solidFill>
                <a:latin typeface="Consolas"/>
              </a:rPr>
              <a:t>5 repeats produced: [0, 1, 1, 1, 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20439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A8C"/>
                </a:solidFill>
                <a:latin typeface="Calibri"/>
              </a:rPr>
              <a:t>Variance: </a:t>
            </a:r>
            <a:r>
              <a:rPr sz="1200" b="1" i="0">
                <a:solidFill>
                  <a:srgbClr val="141A2E"/>
                </a:solidFill>
                <a:latin typeface="Consolas"/>
              </a:rPr>
              <a:t>0.16   </a:t>
            </a:r>
            <a:r>
              <a:rPr sz="1200" b="0" i="0">
                <a:solidFill>
                  <a:srgbClr val="6B7A8C"/>
                </a:solidFill>
                <a:latin typeface="Calibri"/>
              </a:rPr>
              <a:t>Mean token prob: </a:t>
            </a:r>
            <a:r>
              <a:rPr sz="1200" b="1" i="0">
                <a:solidFill>
                  <a:srgbClr val="141A2E"/>
                </a:solidFill>
                <a:latin typeface="Consolas"/>
              </a:rPr>
              <a:t>0.949   </a:t>
            </a:r>
            <a:r>
              <a:rPr sz="1200" b="0" i="0">
                <a:solidFill>
                  <a:srgbClr val="6B7A8C"/>
                </a:solidFill>
                <a:latin typeface="Calibri"/>
              </a:rPr>
              <a:t>Min: </a:t>
            </a:r>
            <a:r>
              <a:rPr sz="1200" b="1" i="0">
                <a:solidFill>
                  <a:srgbClr val="141A2E"/>
                </a:solidFill>
                <a:latin typeface="Consolas"/>
              </a:rPr>
              <a:t>0.82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840479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F96167"/>
                </a:solidFill>
                <a:latin typeface="Calibri"/>
              </a:rPr>
              <a:t>→ Model is 95% sure each time — and still produces a different answer once.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34840"/>
            <a:ext cx="685800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434840"/>
            <a:ext cx="91440" cy="1691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5720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6B7A8C"/>
                </a:solidFill>
                <a:latin typeface="Calibri"/>
              </a:rPr>
              <a:t>EXAMPLE — sentiment_negative / binary / Q7 (negation)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937759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A2E"/>
                </a:solidFill>
                <a:latin typeface="Consolas"/>
              </a:rPr>
              <a:t>5 repeats produced: [0, 1, 0, 1, 0]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394959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A8C"/>
                </a:solidFill>
                <a:latin typeface="Calibri"/>
              </a:rPr>
              <a:t>Variance: </a:t>
            </a:r>
            <a:r>
              <a:rPr sz="1200" b="1" i="0">
                <a:solidFill>
                  <a:srgbClr val="141A2E"/>
                </a:solidFill>
                <a:latin typeface="Consolas"/>
              </a:rPr>
              <a:t>0.24   </a:t>
            </a:r>
            <a:r>
              <a:rPr sz="1200" b="0" i="0">
                <a:solidFill>
                  <a:srgbClr val="6B7A8C"/>
                </a:solidFill>
                <a:latin typeface="Calibri"/>
              </a:rPr>
              <a:t>Mean token prob: </a:t>
            </a:r>
            <a:r>
              <a:rPr sz="1200" b="1" i="0">
                <a:solidFill>
                  <a:srgbClr val="141A2E"/>
                </a:solidFill>
                <a:latin typeface="Consolas"/>
              </a:rPr>
              <a:t>0.665   </a:t>
            </a:r>
            <a:r>
              <a:rPr sz="1200" b="0" i="0">
                <a:solidFill>
                  <a:srgbClr val="6B7A8C"/>
                </a:solidFill>
                <a:latin typeface="Calibri"/>
              </a:rPr>
              <a:t>Min: </a:t>
            </a:r>
            <a:r>
              <a:rPr sz="1200" b="1" i="0">
                <a:solidFill>
                  <a:srgbClr val="141A2E"/>
                </a:solidFill>
                <a:latin typeface="Consolas"/>
              </a:rPr>
              <a:t>0.56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71500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1E2761"/>
                </a:solidFill>
                <a:latin typeface="Calibri"/>
              </a:rPr>
              <a:t>→ Here the logprobs do correlate — but this case is the exception, not the rule.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2560320"/>
            <a:ext cx="3749039" cy="3566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2560320"/>
            <a:ext cx="91440" cy="3566160"/>
          </a:xfrm>
          <a:prstGeom prst="rect">
            <a:avLst/>
          </a:prstGeom>
          <a:solidFill>
            <a:srgbClr val="F6C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2743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F6C85F"/>
                </a:solidFill>
                <a:latin typeface="Calibri"/>
              </a:rPr>
              <a:t>STATISTICAL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154680"/>
            <a:ext cx="3383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Mann–Whitney U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stable vs. unstable cells, mean token-prob</a:t>
            </a:r>
          </a:p>
          <a:p>
            <a:pPr algn="l"/>
            <a:r>
              <a:rPr sz="800" b="0" i="0">
                <a:solidFill>
                  <a:srgbClr val="141A2E"/>
                </a:solidFill>
                <a:latin typeface="Calibri"/>
              </a:rPr>
              <a:t> </a:t>
            </a:r>
          </a:p>
          <a:p>
            <a:pPr algn="l"/>
            <a:r>
              <a:rPr sz="3600" b="1" i="0">
                <a:solidFill>
                  <a:srgbClr val="F96167"/>
                </a:solidFill>
                <a:latin typeface="Calibri"/>
              </a:rPr>
              <a:t>p = 0.059</a:t>
            </a:r>
          </a:p>
          <a:p>
            <a:pPr algn="l"/>
            <a:r>
              <a:rPr sz="400" b="0" i="0">
                <a:solidFill>
                  <a:srgbClr val="141A2E"/>
                </a:solidFill>
                <a:latin typeface="Calibri"/>
              </a:rPr>
              <a:t> 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Near-significant, but the magnitude is small:</a:t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  stable mean prob = 0.968</a:t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  unstable mean prob = 0.926</a:t>
            </a:r>
          </a:p>
          <a:p>
            <a:pPr algn="l"/>
            <a:r>
              <a:rPr sz="600" b="0" i="0">
                <a:solidFill>
                  <a:srgbClr val="141A2E"/>
                </a:solidFill>
                <a:latin typeface="Calibri"/>
              </a:rPr>
              <a:t> </a:t>
            </a:r>
          </a:p>
          <a:p>
            <a:pPr algn="l"/>
            <a:r>
              <a:rPr sz="1100" b="1" i="1">
                <a:solidFill>
                  <a:srgbClr val="F6C85F"/>
                </a:solidFill>
                <a:latin typeface="Calibri"/>
              </a:rPr>
              <a:t>Don't trust confidence alone.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96167"/>
                </a:solidFill>
                <a:latin typeface="Calibri"/>
              </a:rPr>
              <a:t>ANALYTICAL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PCA reveals which semantic axes absorb the wobble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55648"/>
            <a:ext cx="1097280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B7A8C"/>
                </a:solidFill>
                <a:latin typeface="Calibri"/>
              </a:rPr>
              <a:t>GRADING-LLM   ·   STAT 298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11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6454F"/>
                </a:solidFill>
                <a:latin typeface="Calibri"/>
              </a:rPr>
              <a:t>An 80 × 20 matrix per statement → eigenvectors → interpretable directions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06040"/>
            <a:ext cx="2834640" cy="30175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F6C85F"/>
                </a:solidFill>
                <a:latin typeface="Calibri"/>
              </a:rPr>
              <a:t>INPUT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80 ×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033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samples ×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069080"/>
            <a:ext cx="2377440" cy="228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0624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20 reps × 4 scales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= 80 grading vectors</a:t>
            </a:r>
          </a:p>
          <a:p>
            <a:pPr algn="l"/>
            <a:r>
              <a:rPr sz="600" b="0" i="0">
                <a:solidFill>
                  <a:srgbClr val="141A2E"/>
                </a:solidFill>
                <a:latin typeface="Calibri"/>
              </a:rPr>
              <a:t> 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Each cell ∈ [0, 1]:</a:t>
            </a:r>
          </a:p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the LLM's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840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96167"/>
                </a:solidFill>
                <a:latin typeface="Calibri"/>
              </a:rPr>
              <a:t>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606040"/>
            <a:ext cx="283464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2606040"/>
            <a:ext cx="91440" cy="30175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27432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F96167"/>
                </a:solidFill>
                <a:latin typeface="Calibri"/>
              </a:rPr>
              <a:t>DECOMPOSE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10896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3 PCs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7033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6454F"/>
                </a:solidFill>
                <a:latin typeface="Calibri"/>
              </a:rPr>
              <a:t>≈ 60–80% variance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069080"/>
            <a:ext cx="2377440" cy="228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420624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A2E"/>
                </a:solidFill>
                <a:latin typeface="Calibri"/>
              </a:rPr>
              <a:t>Center → covariance →</a:t>
            </a:r>
          </a:p>
          <a:p>
            <a:pPr algn="l"/>
            <a:r>
              <a:rPr sz="1200" b="0" i="0">
                <a:solidFill>
                  <a:srgbClr val="141A2E"/>
                </a:solidFill>
                <a:latin typeface="Calibri"/>
              </a:rPr>
              <a:t>eigendecomposition</a:t>
            </a:r>
          </a:p>
          <a:p>
            <a:pPr algn="l"/>
            <a:r>
              <a:rPr sz="600" b="0" i="0">
                <a:solidFill>
                  <a:srgbClr val="141A2E"/>
                </a:solidFill>
                <a:latin typeface="Calibri"/>
              </a:rPr>
              <a:t> </a:t>
            </a:r>
          </a:p>
          <a:p>
            <a:pPr algn="l"/>
            <a:r>
              <a:rPr sz="1200" b="0" i="0">
                <a:solidFill>
                  <a:srgbClr val="141A2E"/>
                </a:solidFill>
                <a:latin typeface="Calibri"/>
              </a:rPr>
              <a:t>Loadings = which</a:t>
            </a:r>
          </a:p>
          <a:p>
            <a:pPr algn="l"/>
            <a:r>
              <a:rPr sz="1200" b="0" i="1">
                <a:solidFill>
                  <a:srgbClr val="141A2E"/>
                </a:solidFill>
                <a:latin typeface="Calibri"/>
              </a:rPr>
              <a:t>questions drive each PC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840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96167"/>
                </a:solidFill>
                <a:latin typeface="Calibri"/>
              </a:rPr>
              <a:t>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2606040"/>
            <a:ext cx="3977639" cy="30175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0" y="2606040"/>
            <a:ext cx="91440" cy="30175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743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1E2761"/>
                </a:solidFill>
                <a:latin typeface="Calibri"/>
              </a:rPr>
              <a:t>INTERPRET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10896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3-D scatter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703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6454F"/>
                </a:solidFill>
                <a:latin typeface="Calibri"/>
              </a:rPr>
              <a:t>colored by scale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4069080"/>
            <a:ext cx="3474720" cy="228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18120" y="4251960"/>
            <a:ext cx="36576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5212" y="4671871"/>
            <a:ext cx="64008" cy="6400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0924" y="4653229"/>
            <a:ext cx="64008" cy="6400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77259" y="4722948"/>
            <a:ext cx="64008" cy="6400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37426" y="4756647"/>
            <a:ext cx="64008" cy="6400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31427" y="4739104"/>
            <a:ext cx="64008" cy="6400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40896" y="4657574"/>
            <a:ext cx="64008" cy="6400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44673" y="4832587"/>
            <a:ext cx="64008" cy="6400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11896" y="4700016"/>
            <a:ext cx="146304" cy="14630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71081" y="4506201"/>
            <a:ext cx="64008" cy="64008"/>
          </a:xfrm>
          <a:prstGeom prst="ellipse">
            <a:avLst/>
          </a:prstGeom>
          <a:solidFill>
            <a:srgbClr val="2E6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318447" y="4678440"/>
            <a:ext cx="64008" cy="64008"/>
          </a:xfrm>
          <a:prstGeom prst="ellipse">
            <a:avLst/>
          </a:prstGeom>
          <a:solidFill>
            <a:srgbClr val="2E6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03720" y="4547436"/>
            <a:ext cx="64008" cy="64008"/>
          </a:xfrm>
          <a:prstGeom prst="ellipse">
            <a:avLst/>
          </a:prstGeom>
          <a:solidFill>
            <a:srgbClr val="2E6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420516" y="4464202"/>
            <a:ext cx="64008" cy="64008"/>
          </a:xfrm>
          <a:prstGeom prst="ellipse">
            <a:avLst/>
          </a:prstGeom>
          <a:solidFill>
            <a:srgbClr val="2E6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386050" y="4521980"/>
            <a:ext cx="64008" cy="64008"/>
          </a:xfrm>
          <a:prstGeom prst="ellipse">
            <a:avLst/>
          </a:prstGeom>
          <a:solidFill>
            <a:srgbClr val="2E6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177066" y="4481132"/>
            <a:ext cx="64008" cy="64008"/>
          </a:xfrm>
          <a:prstGeom prst="ellipse">
            <a:avLst/>
          </a:prstGeom>
          <a:solidFill>
            <a:srgbClr val="2E6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25120" y="4647157"/>
            <a:ext cx="64008" cy="64008"/>
          </a:xfrm>
          <a:prstGeom prst="ellipse">
            <a:avLst/>
          </a:prstGeom>
          <a:solidFill>
            <a:srgbClr val="2E6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226296" y="4517136"/>
            <a:ext cx="146304" cy="146304"/>
          </a:xfrm>
          <a:prstGeom prst="ellipse">
            <a:avLst/>
          </a:prstGeom>
          <a:solidFill>
            <a:srgbClr val="2E6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010697" y="5094319"/>
            <a:ext cx="64008" cy="640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44767" y="5044583"/>
            <a:ext cx="64008" cy="640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118090" y="4970975"/>
            <a:ext cx="64008" cy="640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975255" y="5005013"/>
            <a:ext cx="64008" cy="640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156906" y="5057705"/>
            <a:ext cx="64008" cy="640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049737" y="5095261"/>
            <a:ext cx="64008" cy="640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090421" y="5027315"/>
            <a:ext cx="64008" cy="640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049256" y="5020056"/>
            <a:ext cx="146304" cy="14630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830337" y="4893629"/>
            <a:ext cx="64008" cy="64008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669320" y="4864013"/>
            <a:ext cx="64008" cy="64008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751572" y="4935506"/>
            <a:ext cx="64008" cy="64008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811337" y="4795903"/>
            <a:ext cx="64008" cy="64008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884703" y="4755517"/>
            <a:ext cx="64008" cy="64008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720242" y="4907453"/>
            <a:ext cx="64008" cy="64008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642367" y="4843696"/>
            <a:ext cx="64008" cy="64008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689336" y="4791456"/>
            <a:ext cx="146304" cy="146304"/>
          </a:xfrm>
          <a:prstGeom prst="ellipse">
            <a:avLst/>
          </a:prstGeom>
          <a:solidFill>
            <a:srgbClr val="D9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5715000"/>
            <a:ext cx="1083564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0120" y="5797296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Tight cluster = consistent.   Spread cluster = the model changes its mind on those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96167"/>
                </a:solidFill>
                <a:latin typeface="Calibri"/>
              </a:rPr>
              <a:t>WHAT IT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Implications for LLM-as-judge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55648"/>
            <a:ext cx="1097280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B7A8C"/>
                </a:solidFill>
                <a:latin typeface="Calibri"/>
              </a:rPr>
              <a:t>GRADING-LLM   ·   STAT 298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12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3566160" cy="3337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356616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2423160"/>
            <a:ext cx="502920" cy="50292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45059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5468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Pick the coarsest scale that still answers your question.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If binary captures your decision boundary, the variance you save matters more than the precision you lose.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59" y="2194560"/>
            <a:ext cx="3566160" cy="3337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59" y="2194560"/>
            <a:ext cx="356616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79" y="2423160"/>
            <a:ext cx="502920" cy="50292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245059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15468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Probe per factor family, not per metric average.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452628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Five families absorb most of the instability. An averaged score hides which axes wobble.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194560"/>
            <a:ext cx="3566160" cy="3337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194560"/>
            <a:ext cx="356616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03920" y="2423160"/>
            <a:ext cx="502920" cy="50292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245059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15468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Don't trust logprobs as a stability proxy.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52628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p = 0.059 in our data. Confident tokens still produce different scores. Repeat-and-check is the only honest measure.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715000"/>
            <a:ext cx="1083564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5715000"/>
            <a:ext cx="109728" cy="411480"/>
          </a:xfrm>
          <a:prstGeom prst="rect">
            <a:avLst/>
          </a:prstGeom>
          <a:solidFill>
            <a:srgbClr val="F6C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797296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Next: cross-model comparison (gpt-4o ↔ Claude ↔ Llama), longer contexts, and reweighting eval rubrics by per-family reliability.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F6C85F"/>
                </a:solidFill>
                <a:latin typeface="Calibri"/>
              </a:rPr>
              <a:t>THANKS FOR STOPPING 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 i="0">
                <a:solidFill>
                  <a:srgbClr val="FFFFFF"/>
                </a:solidFill>
                <a:latin typeface="Calibri"/>
              </a:rPr>
              <a:t>Try it live.</a:t>
            </a:r>
          </a:p>
          <a:p>
            <a:pPr algn="l">
              <a:lnSpc>
                <a:spcPct val="110000"/>
              </a:lnSpc>
            </a:pPr>
            <a:r>
              <a:rPr sz="2600" b="0" i="1">
                <a:solidFill>
                  <a:srgbClr val="CADCFC"/>
                </a:solidFill>
                <a:latin typeface="Calibri"/>
              </a:rPr>
              <a:t>Pick a statement. Watch the model wobble.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640080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6C85F"/>
                </a:solidFill>
                <a:latin typeface="Consolas"/>
              </a:rPr>
              <a:t>grading-llm.vercel.app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Bring your own OpenAI key. Run on a statement of your choice. Inspect the PCA in 3-D.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577840"/>
            <a:ext cx="10698480" cy="868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5577840"/>
            <a:ext cx="109728" cy="868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Atharva Patel</a:t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atharvajpatel@berkeley.edu   ·   github.com/atharvajpatel/Grading-LLM   ·   Evans 1011 · 1:00–2:30 PM Friday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